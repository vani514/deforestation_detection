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latsi" panose="020B0604020202020204" charset="0"/>
      <p:regular r:id="rId14"/>
    </p:embeddedFont>
    <p:embeddedFont>
      <p:font typeface="Alike" panose="020B0604020202020204" charset="0"/>
      <p:regular r:id="rId15"/>
    </p:embeddedFont>
    <p:embeddedFont>
      <p:font typeface="Arial Bold" panose="020B0704020202020204" pitchFamily="34" charset="0"/>
      <p:regular r:id="rId16"/>
      <p:bold r:id="rId17"/>
    </p:embeddedFont>
    <p:embeddedFont>
      <p:font typeface="Arimo" panose="020B0604020202020204" charset="0"/>
      <p:regular r:id="rId18"/>
    </p:embeddedFont>
    <p:embeddedFont>
      <p:font typeface="Futura Bold" panose="020B0604020202020204" charset="0"/>
      <p:regular r:id="rId19"/>
    </p:embeddedFont>
    <p:embeddedFont>
      <p:font typeface="Georgia Pro" panose="02040502050405020303" pitchFamily="18" charset="0"/>
      <p:regular r:id="rId20"/>
    </p:embeddedFont>
    <p:embeddedFont>
      <p:font typeface="Lovelo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87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hyperlink" Target="https://www.freepik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tm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tmp"/><Relationship Id="rId4" Type="http://schemas.openxmlformats.org/officeDocument/2006/relationships/hyperlink" Target="https://github.com/vani514/Deforestation_Detection.git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5109032" y="117003"/>
            <a:ext cx="2700338" cy="863271"/>
            <a:chOff x="0" y="0"/>
            <a:chExt cx="3600450" cy="1151028"/>
          </a:xfrm>
        </p:grpSpPr>
        <p:sp>
          <p:nvSpPr>
            <p:cNvPr id="3" name="Freeform 3" descr="A close up of a sign  Description automatically generated"/>
            <p:cNvSpPr/>
            <p:nvPr/>
          </p:nvSpPr>
          <p:spPr>
            <a:xfrm>
              <a:off x="0" y="0"/>
              <a:ext cx="3600450" cy="1151001"/>
            </a:xfrm>
            <a:custGeom>
              <a:avLst/>
              <a:gdLst/>
              <a:ahLst/>
              <a:cxnLst/>
              <a:rect l="l" t="t" r="r" b="b"/>
              <a:pathLst>
                <a:path w="3600450" h="1151001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457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19048" y="-19050"/>
            <a:ext cx="14782800" cy="1114545"/>
            <a:chOff x="0" y="0"/>
            <a:chExt cx="19710400" cy="1486060"/>
          </a:xfrm>
        </p:grpSpPr>
        <p:sp>
          <p:nvSpPr>
            <p:cNvPr id="5" name="Freeform 5"/>
            <p:cNvSpPr/>
            <p:nvPr/>
          </p:nvSpPr>
          <p:spPr>
            <a:xfrm>
              <a:off x="25400" y="25400"/>
              <a:ext cx="19659600" cy="1435227"/>
            </a:xfrm>
            <a:custGeom>
              <a:avLst/>
              <a:gdLst/>
              <a:ahLst/>
              <a:cxnLst/>
              <a:rect l="l" t="t" r="r" b="b"/>
              <a:pathLst>
                <a:path w="19659600" h="1435227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19710400" cy="1486027"/>
            </a:xfrm>
            <a:custGeom>
              <a:avLst/>
              <a:gdLst/>
              <a:ahLst/>
              <a:cxnLst/>
              <a:rect l="l" t="t" r="r" b="b"/>
              <a:pathLst>
                <a:path w="19710400" h="1486027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4833450" y="-628"/>
            <a:ext cx="168424" cy="1098536"/>
            <a:chOff x="0" y="0"/>
            <a:chExt cx="224566" cy="14647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536" cy="1464691"/>
            </a:xfrm>
            <a:custGeom>
              <a:avLst/>
              <a:gdLst/>
              <a:ahLst/>
              <a:cxnLst/>
              <a:rect l="l" t="t" r="r" b="b"/>
              <a:pathLst>
                <a:path w="224536" h="1464691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0" y="-19050"/>
            <a:ext cx="14758988" cy="1085852"/>
            <a:chOff x="0" y="0"/>
            <a:chExt cx="19678650" cy="1447802"/>
          </a:xfrm>
        </p:grpSpPr>
        <p:sp>
          <p:nvSpPr>
            <p:cNvPr id="10" name="Freeform 10" descr="A blue and white background  Description automatically generated with medium confidence"/>
            <p:cNvSpPr/>
            <p:nvPr/>
          </p:nvSpPr>
          <p:spPr>
            <a:xfrm>
              <a:off x="0" y="0"/>
              <a:ext cx="19678650" cy="1447800"/>
            </a:xfrm>
            <a:custGeom>
              <a:avLst/>
              <a:gdLst/>
              <a:ahLst/>
              <a:cxnLst/>
              <a:rect l="l" t="t" r="r" b="b"/>
              <a:pathLst>
                <a:path w="19678650" h="144780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t="-213488" r="-1645" b="-549998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887950" y="-628"/>
            <a:ext cx="400050" cy="1098536"/>
            <a:chOff x="0" y="0"/>
            <a:chExt cx="533400" cy="14647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3400" cy="1464691"/>
            </a:xfrm>
            <a:custGeom>
              <a:avLst/>
              <a:gdLst/>
              <a:ahLst/>
              <a:cxnLst/>
              <a:rect l="l" t="t" r="r" b="b"/>
              <a:pathLst>
                <a:path w="533400" h="1464691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14" name="Freeform 14" descr="A person sitting at a desk with a computer  Description automatically generated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8791575" y="857250"/>
            <a:ext cx="7048500" cy="1504950"/>
            <a:chOff x="0" y="0"/>
            <a:chExt cx="9398000" cy="2006600"/>
          </a:xfrm>
        </p:grpSpPr>
        <p:sp>
          <p:nvSpPr>
            <p:cNvPr id="16" name="Freeform 16"/>
            <p:cNvSpPr/>
            <p:nvPr/>
          </p:nvSpPr>
          <p:spPr>
            <a:xfrm>
              <a:off x="25400" y="25400"/>
              <a:ext cx="9347200" cy="1955800"/>
            </a:xfrm>
            <a:custGeom>
              <a:avLst/>
              <a:gdLst/>
              <a:ahLst/>
              <a:cxnLst/>
              <a:rect l="l" t="t" r="r" b="b"/>
              <a:pathLst>
                <a:path w="9347200" h="1955800">
                  <a:moveTo>
                    <a:pt x="0" y="326009"/>
                  </a:moveTo>
                  <a:cubicBezTo>
                    <a:pt x="0" y="145923"/>
                    <a:pt x="148971" y="0"/>
                    <a:pt x="332613" y="0"/>
                  </a:cubicBezTo>
                  <a:lnTo>
                    <a:pt x="9014587" y="0"/>
                  </a:lnTo>
                  <a:cubicBezTo>
                    <a:pt x="9198229" y="0"/>
                    <a:pt x="9347200" y="145923"/>
                    <a:pt x="9347200" y="326009"/>
                  </a:cubicBezTo>
                  <a:lnTo>
                    <a:pt x="9347200" y="1629791"/>
                  </a:lnTo>
                  <a:cubicBezTo>
                    <a:pt x="9347200" y="1809877"/>
                    <a:pt x="9198229" y="1955800"/>
                    <a:pt x="9014587" y="1955800"/>
                  </a:cubicBezTo>
                  <a:lnTo>
                    <a:pt x="332613" y="1955800"/>
                  </a:lnTo>
                  <a:cubicBezTo>
                    <a:pt x="148971" y="1955800"/>
                    <a:pt x="0" y="1809877"/>
                    <a:pt x="0" y="1629791"/>
                  </a:cubicBezTo>
                  <a:close/>
                </a:path>
              </a:pathLst>
            </a:custGeom>
            <a:solidFill>
              <a:srgbClr val="EBEEF9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9398000" cy="2006600"/>
            </a:xfrm>
            <a:custGeom>
              <a:avLst/>
              <a:gdLst/>
              <a:ahLst/>
              <a:cxnLst/>
              <a:rect l="l" t="t" r="r" b="b"/>
              <a:pathLst>
                <a:path w="9398000" h="2006600">
                  <a:moveTo>
                    <a:pt x="0" y="351409"/>
                  </a:moveTo>
                  <a:cubicBezTo>
                    <a:pt x="0" y="156845"/>
                    <a:pt x="160782" y="0"/>
                    <a:pt x="358013" y="0"/>
                  </a:cubicBezTo>
                  <a:lnTo>
                    <a:pt x="9039987" y="0"/>
                  </a:lnTo>
                  <a:lnTo>
                    <a:pt x="9039987" y="25400"/>
                  </a:lnTo>
                  <a:lnTo>
                    <a:pt x="9039987" y="0"/>
                  </a:lnTo>
                  <a:cubicBezTo>
                    <a:pt x="9237218" y="0"/>
                    <a:pt x="9398000" y="156845"/>
                    <a:pt x="9398000" y="351409"/>
                  </a:cubicBezTo>
                  <a:lnTo>
                    <a:pt x="9372600" y="351409"/>
                  </a:lnTo>
                  <a:lnTo>
                    <a:pt x="9398000" y="351409"/>
                  </a:lnTo>
                  <a:lnTo>
                    <a:pt x="9398000" y="1655191"/>
                  </a:lnTo>
                  <a:lnTo>
                    <a:pt x="9372600" y="1655191"/>
                  </a:lnTo>
                  <a:lnTo>
                    <a:pt x="9398000" y="1655191"/>
                  </a:lnTo>
                  <a:cubicBezTo>
                    <a:pt x="9398000" y="1849755"/>
                    <a:pt x="9237218" y="2006600"/>
                    <a:pt x="9039987" y="2006600"/>
                  </a:cubicBezTo>
                  <a:lnTo>
                    <a:pt x="9039987" y="1981200"/>
                  </a:lnTo>
                  <a:lnTo>
                    <a:pt x="9039987" y="2006600"/>
                  </a:lnTo>
                  <a:lnTo>
                    <a:pt x="358013" y="2006600"/>
                  </a:lnTo>
                  <a:lnTo>
                    <a:pt x="358013" y="1981200"/>
                  </a:lnTo>
                  <a:lnTo>
                    <a:pt x="358013" y="2006600"/>
                  </a:lnTo>
                  <a:cubicBezTo>
                    <a:pt x="160782" y="2006600"/>
                    <a:pt x="0" y="1849755"/>
                    <a:pt x="0" y="1655191"/>
                  </a:cubicBezTo>
                  <a:lnTo>
                    <a:pt x="0" y="351409"/>
                  </a:lnTo>
                  <a:lnTo>
                    <a:pt x="25400" y="351409"/>
                  </a:lnTo>
                  <a:lnTo>
                    <a:pt x="0" y="351409"/>
                  </a:lnTo>
                  <a:moveTo>
                    <a:pt x="50800" y="351409"/>
                  </a:moveTo>
                  <a:lnTo>
                    <a:pt x="50800" y="1655191"/>
                  </a:lnTo>
                  <a:lnTo>
                    <a:pt x="25400" y="1655191"/>
                  </a:lnTo>
                  <a:lnTo>
                    <a:pt x="50800" y="1655191"/>
                  </a:lnTo>
                  <a:cubicBezTo>
                    <a:pt x="50800" y="1820799"/>
                    <a:pt x="187833" y="1955800"/>
                    <a:pt x="358013" y="1955800"/>
                  </a:cubicBezTo>
                  <a:lnTo>
                    <a:pt x="9039987" y="1955800"/>
                  </a:lnTo>
                  <a:cubicBezTo>
                    <a:pt x="9210167" y="1955800"/>
                    <a:pt x="9347200" y="1820799"/>
                    <a:pt x="9347200" y="1655191"/>
                  </a:cubicBezTo>
                  <a:lnTo>
                    <a:pt x="9347200" y="351409"/>
                  </a:lnTo>
                  <a:cubicBezTo>
                    <a:pt x="9347200" y="185801"/>
                    <a:pt x="9210167" y="50800"/>
                    <a:pt x="9039987" y="50800"/>
                  </a:cubicBezTo>
                  <a:lnTo>
                    <a:pt x="358013" y="50800"/>
                  </a:lnTo>
                  <a:lnTo>
                    <a:pt x="358013" y="25400"/>
                  </a:lnTo>
                  <a:lnTo>
                    <a:pt x="358013" y="50800"/>
                  </a:lnTo>
                  <a:cubicBezTo>
                    <a:pt x="187833" y="50800"/>
                    <a:pt x="50800" y="185801"/>
                    <a:pt x="50800" y="351409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7379494" y="4715515"/>
            <a:ext cx="10132999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DEFORESTATION DETECTION</a:t>
            </a:r>
          </a:p>
          <a:p>
            <a:pPr algn="ctr">
              <a:lnSpc>
                <a:spcPts val="6120"/>
              </a:lnSpc>
            </a:pPr>
            <a:r>
              <a:rPr lang="en-US" sz="5100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(FIRE CLASSIFICATION)</a:t>
            </a:r>
          </a:p>
        </p:txBody>
      </p: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12401128" y="1303294"/>
            <a:ext cx="1894735" cy="616251"/>
            <a:chOff x="0" y="0"/>
            <a:chExt cx="2526314" cy="821668"/>
          </a:xfrm>
        </p:grpSpPr>
        <p:sp>
          <p:nvSpPr>
            <p:cNvPr id="20" name="Freeform 20" descr="A close up of a logo  Description automatically generated"/>
            <p:cNvSpPr/>
            <p:nvPr/>
          </p:nvSpPr>
          <p:spPr>
            <a:xfrm>
              <a:off x="0" y="0"/>
              <a:ext cx="2526284" cy="821690"/>
            </a:xfrm>
            <a:custGeom>
              <a:avLst/>
              <a:gdLst/>
              <a:ahLst/>
              <a:cxnLst/>
              <a:rect l="l" t="t" r="r" b="b"/>
              <a:pathLst>
                <a:path w="2526284" h="821690">
                  <a:moveTo>
                    <a:pt x="0" y="0"/>
                  </a:moveTo>
                  <a:lnTo>
                    <a:pt x="2526284" y="0"/>
                  </a:lnTo>
                  <a:lnTo>
                    <a:pt x="2526284" y="821690"/>
                  </a:lnTo>
                  <a:lnTo>
                    <a:pt x="0" y="821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6" r="-1" b="-83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5109032" y="117003"/>
            <a:ext cx="2700338" cy="863271"/>
            <a:chOff x="0" y="0"/>
            <a:chExt cx="3600450" cy="1151028"/>
          </a:xfrm>
        </p:grpSpPr>
        <p:sp>
          <p:nvSpPr>
            <p:cNvPr id="3" name="Freeform 3" descr="A close up of a sign  Description automatically generated"/>
            <p:cNvSpPr/>
            <p:nvPr/>
          </p:nvSpPr>
          <p:spPr>
            <a:xfrm>
              <a:off x="0" y="0"/>
              <a:ext cx="3600450" cy="1151001"/>
            </a:xfrm>
            <a:custGeom>
              <a:avLst/>
              <a:gdLst/>
              <a:ahLst/>
              <a:cxnLst/>
              <a:rect l="l" t="t" r="r" b="b"/>
              <a:pathLst>
                <a:path w="3600450" h="1151001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457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19048" y="-19050"/>
            <a:ext cx="14782800" cy="1114545"/>
            <a:chOff x="0" y="0"/>
            <a:chExt cx="19710400" cy="1486060"/>
          </a:xfrm>
        </p:grpSpPr>
        <p:sp>
          <p:nvSpPr>
            <p:cNvPr id="5" name="Freeform 5"/>
            <p:cNvSpPr/>
            <p:nvPr/>
          </p:nvSpPr>
          <p:spPr>
            <a:xfrm>
              <a:off x="25400" y="25400"/>
              <a:ext cx="19659600" cy="1435227"/>
            </a:xfrm>
            <a:custGeom>
              <a:avLst/>
              <a:gdLst/>
              <a:ahLst/>
              <a:cxnLst/>
              <a:rect l="l" t="t" r="r" b="b"/>
              <a:pathLst>
                <a:path w="19659600" h="1435227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19710400" cy="1486027"/>
            </a:xfrm>
            <a:custGeom>
              <a:avLst/>
              <a:gdLst/>
              <a:ahLst/>
              <a:cxnLst/>
              <a:rect l="l" t="t" r="r" b="b"/>
              <a:pathLst>
                <a:path w="19710400" h="1486027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4833450" y="-628"/>
            <a:ext cx="168424" cy="1098536"/>
            <a:chOff x="0" y="0"/>
            <a:chExt cx="224566" cy="14647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536" cy="1464691"/>
            </a:xfrm>
            <a:custGeom>
              <a:avLst/>
              <a:gdLst/>
              <a:ahLst/>
              <a:cxnLst/>
              <a:rect l="l" t="t" r="r" b="b"/>
              <a:pathLst>
                <a:path w="224536" h="1464691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0" y="-19050"/>
            <a:ext cx="14758988" cy="1085852"/>
            <a:chOff x="0" y="0"/>
            <a:chExt cx="19678650" cy="1447802"/>
          </a:xfrm>
        </p:grpSpPr>
        <p:sp>
          <p:nvSpPr>
            <p:cNvPr id="10" name="Freeform 10" descr="A blue and white background  Description automatically generated with medium confidence"/>
            <p:cNvSpPr/>
            <p:nvPr/>
          </p:nvSpPr>
          <p:spPr>
            <a:xfrm>
              <a:off x="0" y="0"/>
              <a:ext cx="19678650" cy="1447800"/>
            </a:xfrm>
            <a:custGeom>
              <a:avLst/>
              <a:gdLst/>
              <a:ahLst/>
              <a:cxnLst/>
              <a:rect l="l" t="t" r="r" b="b"/>
              <a:pathLst>
                <a:path w="19678650" h="144780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t="-213488" r="-1645" b="-549998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887950" y="-628"/>
            <a:ext cx="400050" cy="1098536"/>
            <a:chOff x="0" y="0"/>
            <a:chExt cx="533400" cy="14647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3400" cy="1464691"/>
            </a:xfrm>
            <a:custGeom>
              <a:avLst/>
              <a:gdLst/>
              <a:ahLst/>
              <a:cxnLst/>
              <a:rect l="l" t="t" r="r" b="b"/>
              <a:pathLst>
                <a:path w="533400" h="1464691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id="13" name="AutoShape 13"/>
          <p:cNvSpPr/>
          <p:nvPr/>
        </p:nvSpPr>
        <p:spPr>
          <a:xfrm rot="3577">
            <a:off x="-9530" y="9083040"/>
            <a:ext cx="18307060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1633036" y="2623332"/>
            <a:ext cx="6751320" cy="6949440"/>
            <a:chOff x="0" y="0"/>
            <a:chExt cx="9001760" cy="9265920"/>
          </a:xfrm>
        </p:grpSpPr>
        <p:sp>
          <p:nvSpPr>
            <p:cNvPr id="15" name="Freeform 15" descr="A ladder leading to a large yellow circle  Description automatically generated"/>
            <p:cNvSpPr/>
            <p:nvPr/>
          </p:nvSpPr>
          <p:spPr>
            <a:xfrm>
              <a:off x="0" y="0"/>
              <a:ext cx="9001760" cy="9265920"/>
            </a:xfrm>
            <a:custGeom>
              <a:avLst/>
              <a:gdLst/>
              <a:ahLst/>
              <a:cxnLst/>
              <a:rect l="l" t="t" r="r" b="b"/>
              <a:pathLst>
                <a:path w="9001760" h="9265920">
                  <a:moveTo>
                    <a:pt x="0" y="0"/>
                  </a:moveTo>
                  <a:lnTo>
                    <a:pt x="9001760" y="0"/>
                  </a:lnTo>
                  <a:lnTo>
                    <a:pt x="9001760" y="9265920"/>
                  </a:lnTo>
                  <a:lnTo>
                    <a:pt x="0" y="9265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85000"/>
              </a:blip>
              <a:stretch>
                <a:fillRect l="-18960" t="-6535" r="-18805"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>
            <a:off x="379307" y="4040116"/>
            <a:ext cx="5773502" cy="5773502"/>
          </a:xfrm>
          <a:custGeom>
            <a:avLst/>
            <a:gdLst/>
            <a:ahLst/>
            <a:cxnLst/>
            <a:rect l="l" t="t" r="r" b="b"/>
            <a:pathLst>
              <a:path w="5773502" h="5773502">
                <a:moveTo>
                  <a:pt x="0" y="0"/>
                </a:moveTo>
                <a:lnTo>
                  <a:pt x="5773501" y="0"/>
                </a:lnTo>
                <a:lnTo>
                  <a:pt x="5773501" y="5773502"/>
                </a:lnTo>
                <a:lnTo>
                  <a:pt x="0" y="57735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5934352" y="4984286"/>
            <a:ext cx="5698685" cy="4274014"/>
          </a:xfrm>
          <a:custGeom>
            <a:avLst/>
            <a:gdLst/>
            <a:ahLst/>
            <a:cxnLst/>
            <a:rect l="l" t="t" r="r" b="b"/>
            <a:pathLst>
              <a:path w="5698685" h="4274014">
                <a:moveTo>
                  <a:pt x="0" y="0"/>
                </a:moveTo>
                <a:lnTo>
                  <a:pt x="5698684" y="0"/>
                </a:lnTo>
                <a:lnTo>
                  <a:pt x="5698684" y="4274014"/>
                </a:lnTo>
                <a:lnTo>
                  <a:pt x="0" y="42740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79306" y="1437851"/>
            <a:ext cx="3796454" cy="57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Learning Objectives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91154" y="9210614"/>
            <a:ext cx="1010926" cy="362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Source :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12234" y="9210614"/>
            <a:ext cx="2580646" cy="362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7" tooltip="https://www.freepik.com/"/>
              </a:rPr>
              <a:t>www.freepik.com/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797130" y="5565790"/>
            <a:ext cx="2072642" cy="959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525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GOAL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79307" y="2413300"/>
            <a:ext cx="12000358" cy="2410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397" lvl="1" indent="-342698" algn="l">
              <a:lnSpc>
                <a:spcPts val="3809"/>
              </a:lnSpc>
              <a:buFont typeface="Arial"/>
              <a:buChar char="•"/>
            </a:pPr>
            <a:r>
              <a:rPr lang="en-US" sz="3174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Detect and classify fire types using MODIS satellite data.</a:t>
            </a:r>
          </a:p>
          <a:p>
            <a:pPr marL="685397" lvl="1" indent="-342698" algn="l">
              <a:lnSpc>
                <a:spcPts val="3809"/>
              </a:lnSpc>
              <a:buFont typeface="Arial"/>
              <a:buChar char="•"/>
            </a:pPr>
            <a:r>
              <a:rPr lang="en-US" sz="3174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Apply data preprocessing and feature scaling for ML models.</a:t>
            </a:r>
          </a:p>
          <a:p>
            <a:pPr marL="685397" lvl="1" indent="-342698" algn="l">
              <a:lnSpc>
                <a:spcPts val="3809"/>
              </a:lnSpc>
              <a:buFont typeface="Arial"/>
              <a:buChar char="•"/>
            </a:pPr>
            <a:r>
              <a:rPr lang="en-US" sz="3174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Build and deploy a Streamlit web app for real-time predictions.</a:t>
            </a:r>
          </a:p>
          <a:p>
            <a:pPr marL="685397" lvl="1" indent="-342698" algn="l">
              <a:lnSpc>
                <a:spcPts val="3809"/>
              </a:lnSpc>
              <a:buFont typeface="Arial"/>
              <a:buChar char="•"/>
            </a:pPr>
            <a:r>
              <a:rPr lang="en-US" sz="3174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Support deforestation monitoring and environmental protection.</a:t>
            </a:r>
          </a:p>
          <a:p>
            <a:pPr marL="685397" lvl="1" indent="-342698" algn="l">
              <a:lnSpc>
                <a:spcPts val="3809"/>
              </a:lnSpc>
              <a:buFont typeface="Arial"/>
              <a:buChar char="•"/>
            </a:pPr>
            <a:r>
              <a:rPr lang="en-US" sz="3174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Explore AI-driven solutions for disaster prevention.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5109032" y="117003"/>
            <a:ext cx="2700338" cy="863271"/>
            <a:chOff x="0" y="0"/>
            <a:chExt cx="3600450" cy="1151028"/>
          </a:xfrm>
        </p:grpSpPr>
        <p:sp>
          <p:nvSpPr>
            <p:cNvPr id="3" name="Freeform 3" descr="A close up of a sign  Description automatically generated"/>
            <p:cNvSpPr/>
            <p:nvPr/>
          </p:nvSpPr>
          <p:spPr>
            <a:xfrm>
              <a:off x="0" y="0"/>
              <a:ext cx="3600450" cy="1151001"/>
            </a:xfrm>
            <a:custGeom>
              <a:avLst/>
              <a:gdLst/>
              <a:ahLst/>
              <a:cxnLst/>
              <a:rect l="l" t="t" r="r" b="b"/>
              <a:pathLst>
                <a:path w="3600450" h="1151001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457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19048" y="-19050"/>
            <a:ext cx="14782800" cy="1114545"/>
            <a:chOff x="0" y="0"/>
            <a:chExt cx="19710400" cy="1486060"/>
          </a:xfrm>
        </p:grpSpPr>
        <p:sp>
          <p:nvSpPr>
            <p:cNvPr id="5" name="Freeform 5"/>
            <p:cNvSpPr/>
            <p:nvPr/>
          </p:nvSpPr>
          <p:spPr>
            <a:xfrm>
              <a:off x="25400" y="25400"/>
              <a:ext cx="19659600" cy="1435227"/>
            </a:xfrm>
            <a:custGeom>
              <a:avLst/>
              <a:gdLst/>
              <a:ahLst/>
              <a:cxnLst/>
              <a:rect l="l" t="t" r="r" b="b"/>
              <a:pathLst>
                <a:path w="19659600" h="1435227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19710400" cy="1486027"/>
            </a:xfrm>
            <a:custGeom>
              <a:avLst/>
              <a:gdLst/>
              <a:ahLst/>
              <a:cxnLst/>
              <a:rect l="l" t="t" r="r" b="b"/>
              <a:pathLst>
                <a:path w="19710400" h="1486027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4833450" y="-628"/>
            <a:ext cx="168424" cy="1098536"/>
            <a:chOff x="0" y="0"/>
            <a:chExt cx="224566" cy="14647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536" cy="1464691"/>
            </a:xfrm>
            <a:custGeom>
              <a:avLst/>
              <a:gdLst/>
              <a:ahLst/>
              <a:cxnLst/>
              <a:rect l="l" t="t" r="r" b="b"/>
              <a:pathLst>
                <a:path w="224536" h="1464691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0" y="-19050"/>
            <a:ext cx="14758988" cy="1085852"/>
            <a:chOff x="0" y="0"/>
            <a:chExt cx="19678650" cy="1447802"/>
          </a:xfrm>
        </p:grpSpPr>
        <p:sp>
          <p:nvSpPr>
            <p:cNvPr id="10" name="Freeform 10" descr="A blue and white background  Description automatically generated with medium confidence"/>
            <p:cNvSpPr/>
            <p:nvPr/>
          </p:nvSpPr>
          <p:spPr>
            <a:xfrm>
              <a:off x="0" y="0"/>
              <a:ext cx="19678650" cy="1447800"/>
            </a:xfrm>
            <a:custGeom>
              <a:avLst/>
              <a:gdLst/>
              <a:ahLst/>
              <a:cxnLst/>
              <a:rect l="l" t="t" r="r" b="b"/>
              <a:pathLst>
                <a:path w="19678650" h="144780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t="-213488" r="-1645" b="-549998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887950" y="-628"/>
            <a:ext cx="400050" cy="1098536"/>
            <a:chOff x="0" y="0"/>
            <a:chExt cx="533400" cy="14647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3400" cy="1464691"/>
            </a:xfrm>
            <a:custGeom>
              <a:avLst/>
              <a:gdLst/>
              <a:ahLst/>
              <a:cxnLst/>
              <a:rect l="l" t="t" r="r" b="b"/>
              <a:pathLst>
                <a:path w="533400" h="1464691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295191" y="1580541"/>
            <a:ext cx="8971059" cy="57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Tools and Technology used </a:t>
            </a:r>
          </a:p>
        </p:txBody>
      </p:sp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9FF5CA-F7AD-D0F5-39BC-BAA5ED9B8D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81" t="36815" r="19904" b="6050"/>
          <a:stretch>
            <a:fillRect/>
          </a:stretch>
        </p:blipFill>
        <p:spPr>
          <a:xfrm>
            <a:off x="2514600" y="2641011"/>
            <a:ext cx="12487252" cy="64648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5109032" y="117003"/>
            <a:ext cx="2700338" cy="863271"/>
            <a:chOff x="0" y="0"/>
            <a:chExt cx="3600450" cy="1151028"/>
          </a:xfrm>
        </p:grpSpPr>
        <p:sp>
          <p:nvSpPr>
            <p:cNvPr id="3" name="Freeform 3" descr="A close up of a sign  Description automatically generated"/>
            <p:cNvSpPr/>
            <p:nvPr/>
          </p:nvSpPr>
          <p:spPr>
            <a:xfrm>
              <a:off x="0" y="0"/>
              <a:ext cx="3600450" cy="1151001"/>
            </a:xfrm>
            <a:custGeom>
              <a:avLst/>
              <a:gdLst/>
              <a:ahLst/>
              <a:cxnLst/>
              <a:rect l="l" t="t" r="r" b="b"/>
              <a:pathLst>
                <a:path w="3600450" h="1151001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457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19048" y="-19050"/>
            <a:ext cx="14782800" cy="1114545"/>
            <a:chOff x="0" y="0"/>
            <a:chExt cx="19710400" cy="1486060"/>
          </a:xfrm>
        </p:grpSpPr>
        <p:sp>
          <p:nvSpPr>
            <p:cNvPr id="5" name="Freeform 5"/>
            <p:cNvSpPr/>
            <p:nvPr/>
          </p:nvSpPr>
          <p:spPr>
            <a:xfrm>
              <a:off x="25400" y="25400"/>
              <a:ext cx="19659600" cy="1435227"/>
            </a:xfrm>
            <a:custGeom>
              <a:avLst/>
              <a:gdLst/>
              <a:ahLst/>
              <a:cxnLst/>
              <a:rect l="l" t="t" r="r" b="b"/>
              <a:pathLst>
                <a:path w="19659600" h="1435227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19710400" cy="1486027"/>
            </a:xfrm>
            <a:custGeom>
              <a:avLst/>
              <a:gdLst/>
              <a:ahLst/>
              <a:cxnLst/>
              <a:rect l="l" t="t" r="r" b="b"/>
              <a:pathLst>
                <a:path w="19710400" h="1486027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4833450" y="-628"/>
            <a:ext cx="168424" cy="1098536"/>
            <a:chOff x="0" y="0"/>
            <a:chExt cx="224566" cy="14647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536" cy="1464691"/>
            </a:xfrm>
            <a:custGeom>
              <a:avLst/>
              <a:gdLst/>
              <a:ahLst/>
              <a:cxnLst/>
              <a:rect l="l" t="t" r="r" b="b"/>
              <a:pathLst>
                <a:path w="224536" h="1464691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0" y="-19050"/>
            <a:ext cx="14758988" cy="1085852"/>
            <a:chOff x="0" y="0"/>
            <a:chExt cx="19678650" cy="1447802"/>
          </a:xfrm>
        </p:grpSpPr>
        <p:sp>
          <p:nvSpPr>
            <p:cNvPr id="10" name="Freeform 10" descr="A blue and white background  Description automatically generated with medium confidence"/>
            <p:cNvSpPr/>
            <p:nvPr/>
          </p:nvSpPr>
          <p:spPr>
            <a:xfrm>
              <a:off x="0" y="0"/>
              <a:ext cx="19678650" cy="1447800"/>
            </a:xfrm>
            <a:custGeom>
              <a:avLst/>
              <a:gdLst/>
              <a:ahLst/>
              <a:cxnLst/>
              <a:rect l="l" t="t" r="r" b="b"/>
              <a:pathLst>
                <a:path w="19678650" h="144780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t="-213488" r="-1645" b="-549998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887950" y="-628"/>
            <a:ext cx="400050" cy="1098536"/>
            <a:chOff x="0" y="0"/>
            <a:chExt cx="533400" cy="14647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3400" cy="1464691"/>
            </a:xfrm>
            <a:custGeom>
              <a:avLst/>
              <a:gdLst/>
              <a:ahLst/>
              <a:cxnLst/>
              <a:rect l="l" t="t" r="r" b="b"/>
              <a:pathLst>
                <a:path w="533400" h="1464691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493974" y="1501029"/>
            <a:ext cx="8971059" cy="57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Methodology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3974" y="2486004"/>
            <a:ext cx="16539778" cy="1441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4"/>
              </a:lnSpc>
              <a:spcBef>
                <a:spcPct val="0"/>
              </a:spcBef>
            </a:pPr>
            <a:r>
              <a:rPr lang="en-US" sz="3045" b="1">
                <a:solidFill>
                  <a:srgbClr val="213163"/>
                </a:solidFill>
                <a:latin typeface="Futura Bold"/>
                <a:ea typeface="Futura Bold"/>
                <a:cs typeface="Futura Bold"/>
                <a:sym typeface="Futura Bold"/>
              </a:rPr>
              <a:t>Data Collection &amp; Understanding</a:t>
            </a:r>
          </a:p>
          <a:p>
            <a:pPr marL="657593" lvl="1" indent="-328796" algn="l">
              <a:lnSpc>
                <a:spcPts val="3654"/>
              </a:lnSpc>
              <a:buFont typeface="Arial"/>
              <a:buChar char="•"/>
            </a:pPr>
            <a:r>
              <a:rPr lang="en-US" sz="3045">
                <a:solidFill>
                  <a:srgbClr val="213163"/>
                </a:solidFill>
                <a:latin typeface="Alike"/>
                <a:ea typeface="Alike"/>
                <a:cs typeface="Alike"/>
                <a:sym typeface="Alike"/>
              </a:rPr>
              <a:t>Collected MODIS satellite fire dataset containing features like brightness, FRP, confidence, scan, and track.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3974" y="3959979"/>
            <a:ext cx="13243853" cy="193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2"/>
              </a:lnSpc>
              <a:spcBef>
                <a:spcPct val="0"/>
              </a:spcBef>
            </a:pPr>
            <a:r>
              <a:rPr lang="en-US" sz="3268" b="1">
                <a:solidFill>
                  <a:srgbClr val="213163"/>
                </a:solidFill>
                <a:latin typeface="Futura Bold"/>
                <a:ea typeface="Futura Bold"/>
                <a:cs typeface="Futura Bold"/>
                <a:sym typeface="Futura Bold"/>
              </a:rPr>
              <a:t>Data Preprocessing</a:t>
            </a:r>
          </a:p>
          <a:p>
            <a:pPr marL="656718" lvl="1" indent="-328359" algn="l">
              <a:lnSpc>
                <a:spcPts val="3650"/>
              </a:lnSpc>
              <a:buFont typeface="Arial"/>
              <a:buChar char="•"/>
            </a:pPr>
            <a:r>
              <a:rPr lang="en-US" sz="3041">
                <a:solidFill>
                  <a:srgbClr val="213163"/>
                </a:solidFill>
                <a:latin typeface="Georgia Pro"/>
                <a:ea typeface="Georgia Pro"/>
                <a:cs typeface="Georgia Pro"/>
                <a:sym typeface="Georgia Pro"/>
              </a:rPr>
              <a:t>Cleaned and structured the dataset.</a:t>
            </a:r>
          </a:p>
          <a:p>
            <a:pPr marL="656718" lvl="1" indent="-328359" algn="l">
              <a:lnSpc>
                <a:spcPts val="3650"/>
              </a:lnSpc>
              <a:buFont typeface="Arial"/>
              <a:buChar char="•"/>
            </a:pPr>
            <a:r>
              <a:rPr lang="en-US" sz="3041">
                <a:solidFill>
                  <a:srgbClr val="213163"/>
                </a:solidFill>
                <a:latin typeface="Georgia Pro"/>
                <a:ea typeface="Georgia Pro"/>
                <a:cs typeface="Georgia Pro"/>
                <a:sym typeface="Georgia Pro"/>
              </a:rPr>
              <a:t>Encoded categorical features (confidence levels).</a:t>
            </a:r>
          </a:p>
          <a:p>
            <a:pPr marL="656718" lvl="1" indent="-328359" algn="l">
              <a:lnSpc>
                <a:spcPts val="3650"/>
              </a:lnSpc>
              <a:buFont typeface="Arial"/>
              <a:buChar char="•"/>
            </a:pPr>
            <a:r>
              <a:rPr lang="en-US" sz="3041">
                <a:solidFill>
                  <a:srgbClr val="213163"/>
                </a:solidFill>
                <a:latin typeface="Georgia Pro"/>
                <a:ea typeface="Georgia Pro"/>
                <a:cs typeface="Georgia Pro"/>
                <a:sym typeface="Georgia Pro"/>
              </a:rPr>
              <a:t>Applied feature scaling using scikit-learn to normalize inputs.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3974" y="6122679"/>
            <a:ext cx="17794026" cy="189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213163"/>
                </a:solidFill>
                <a:latin typeface="Futura Bold"/>
                <a:ea typeface="Futura Bold"/>
                <a:cs typeface="Futura Bold"/>
                <a:sym typeface="Futura Bold"/>
              </a:rPr>
              <a:t>Model Development</a:t>
            </a:r>
          </a:p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213163"/>
                </a:solidFill>
                <a:latin typeface="Georgia Pro"/>
                <a:ea typeface="Georgia Pro"/>
                <a:cs typeface="Georgia Pro"/>
                <a:sym typeface="Georgia Pro"/>
              </a:rPr>
              <a:t>Trained a Machine Learning model to classify fire types (Vegetation Fire, Offshore Fire, Other Land Source).</a:t>
            </a:r>
          </a:p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213163"/>
                </a:solidFill>
                <a:latin typeface="Georgia Pro"/>
                <a:ea typeface="Georgia Pro"/>
                <a:cs typeface="Georgia Pro"/>
                <a:sym typeface="Georgia Pro"/>
              </a:rPr>
              <a:t>Saved the trained model and scaler using Joblib for deployment.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3974" y="8246754"/>
            <a:ext cx="10848231" cy="14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3"/>
              </a:lnSpc>
              <a:spcBef>
                <a:spcPct val="0"/>
              </a:spcBef>
            </a:pPr>
            <a:r>
              <a:rPr lang="en-US" sz="3086" b="1">
                <a:solidFill>
                  <a:srgbClr val="213163"/>
                </a:solidFill>
                <a:latin typeface="Futura Bold"/>
                <a:ea typeface="Futura Bold"/>
                <a:cs typeface="Futura Bold"/>
                <a:sym typeface="Futura Bold"/>
              </a:rPr>
              <a:t>Model Evaluation &amp; Testing</a:t>
            </a:r>
          </a:p>
          <a:p>
            <a:pPr marL="687955" lvl="1" indent="-343977" algn="l">
              <a:lnSpc>
                <a:spcPts val="3823"/>
              </a:lnSpc>
              <a:buFont typeface="Arial"/>
              <a:buChar char="•"/>
            </a:pPr>
            <a:r>
              <a:rPr lang="en-US" sz="3186">
                <a:solidFill>
                  <a:srgbClr val="213163"/>
                </a:solidFill>
                <a:latin typeface="Georgia Pro"/>
                <a:ea typeface="Georgia Pro"/>
                <a:cs typeface="Georgia Pro"/>
                <a:sym typeface="Georgia Pro"/>
              </a:rPr>
              <a:t>Evaluated model accuracy and reliability on unseen data.</a:t>
            </a:r>
          </a:p>
          <a:p>
            <a:pPr marL="687955" lvl="1" indent="-343977" algn="l">
              <a:lnSpc>
                <a:spcPts val="3823"/>
              </a:lnSpc>
              <a:buFont typeface="Arial"/>
              <a:buChar char="•"/>
            </a:pPr>
            <a:r>
              <a:rPr lang="en-US" sz="3186">
                <a:solidFill>
                  <a:srgbClr val="213163"/>
                </a:solidFill>
                <a:latin typeface="Georgia Pro"/>
                <a:ea typeface="Georgia Pro"/>
                <a:cs typeface="Georgia Pro"/>
                <a:sym typeface="Georgia Pro"/>
              </a:rPr>
              <a:t>Ensured correct classification of different fire types.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5109032" y="117003"/>
            <a:ext cx="2700338" cy="863271"/>
            <a:chOff x="0" y="0"/>
            <a:chExt cx="3600450" cy="1151028"/>
          </a:xfrm>
        </p:grpSpPr>
        <p:sp>
          <p:nvSpPr>
            <p:cNvPr id="3" name="Freeform 3" descr="A close up of a sign  Description automatically generated"/>
            <p:cNvSpPr/>
            <p:nvPr/>
          </p:nvSpPr>
          <p:spPr>
            <a:xfrm>
              <a:off x="0" y="0"/>
              <a:ext cx="3600450" cy="1151001"/>
            </a:xfrm>
            <a:custGeom>
              <a:avLst/>
              <a:gdLst/>
              <a:ahLst/>
              <a:cxnLst/>
              <a:rect l="l" t="t" r="r" b="b"/>
              <a:pathLst>
                <a:path w="3600450" h="1151001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457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19048" y="-19050"/>
            <a:ext cx="14782800" cy="1114545"/>
            <a:chOff x="0" y="0"/>
            <a:chExt cx="19710400" cy="1486060"/>
          </a:xfrm>
        </p:grpSpPr>
        <p:sp>
          <p:nvSpPr>
            <p:cNvPr id="5" name="Freeform 5"/>
            <p:cNvSpPr/>
            <p:nvPr/>
          </p:nvSpPr>
          <p:spPr>
            <a:xfrm>
              <a:off x="25400" y="25400"/>
              <a:ext cx="19659600" cy="1435227"/>
            </a:xfrm>
            <a:custGeom>
              <a:avLst/>
              <a:gdLst/>
              <a:ahLst/>
              <a:cxnLst/>
              <a:rect l="l" t="t" r="r" b="b"/>
              <a:pathLst>
                <a:path w="19659600" h="1435227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19710400" cy="1486027"/>
            </a:xfrm>
            <a:custGeom>
              <a:avLst/>
              <a:gdLst/>
              <a:ahLst/>
              <a:cxnLst/>
              <a:rect l="l" t="t" r="r" b="b"/>
              <a:pathLst>
                <a:path w="19710400" h="1486027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4833450" y="-628"/>
            <a:ext cx="168424" cy="1098536"/>
            <a:chOff x="0" y="0"/>
            <a:chExt cx="224566" cy="14647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536" cy="1464691"/>
            </a:xfrm>
            <a:custGeom>
              <a:avLst/>
              <a:gdLst/>
              <a:ahLst/>
              <a:cxnLst/>
              <a:rect l="l" t="t" r="r" b="b"/>
              <a:pathLst>
                <a:path w="224536" h="1464691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0" y="-19050"/>
            <a:ext cx="14758988" cy="1085852"/>
            <a:chOff x="0" y="0"/>
            <a:chExt cx="19678650" cy="1447802"/>
          </a:xfrm>
        </p:grpSpPr>
        <p:sp>
          <p:nvSpPr>
            <p:cNvPr id="10" name="Freeform 10" descr="A blue and white background  Description automatically generated with medium confidence"/>
            <p:cNvSpPr/>
            <p:nvPr/>
          </p:nvSpPr>
          <p:spPr>
            <a:xfrm>
              <a:off x="0" y="0"/>
              <a:ext cx="19678650" cy="1447800"/>
            </a:xfrm>
            <a:custGeom>
              <a:avLst/>
              <a:gdLst/>
              <a:ahLst/>
              <a:cxnLst/>
              <a:rect l="l" t="t" r="r" b="b"/>
              <a:pathLst>
                <a:path w="19678650" h="144780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t="-213488" r="-1645" b="-549998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887950" y="-628"/>
            <a:ext cx="400050" cy="1098536"/>
            <a:chOff x="0" y="0"/>
            <a:chExt cx="533400" cy="14647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3400" cy="1464691"/>
            </a:xfrm>
            <a:custGeom>
              <a:avLst/>
              <a:gdLst/>
              <a:ahLst/>
              <a:cxnLst/>
              <a:rect l="l" t="t" r="r" b="b"/>
              <a:pathLst>
                <a:path w="533400" h="1464691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id="13" name="Freeform 13"/>
          <p:cNvSpPr/>
          <p:nvPr/>
        </p:nvSpPr>
        <p:spPr>
          <a:xfrm>
            <a:off x="11069796" y="1822067"/>
            <a:ext cx="6028034" cy="8011452"/>
          </a:xfrm>
          <a:custGeom>
            <a:avLst/>
            <a:gdLst/>
            <a:ahLst/>
            <a:cxnLst/>
            <a:rect l="l" t="t" r="r" b="b"/>
            <a:pathLst>
              <a:path w="6028034" h="8011452">
                <a:moveTo>
                  <a:pt x="0" y="0"/>
                </a:moveTo>
                <a:lnTo>
                  <a:pt x="6028034" y="0"/>
                </a:lnTo>
                <a:lnTo>
                  <a:pt x="6028034" y="8011452"/>
                </a:lnTo>
                <a:lnTo>
                  <a:pt x="0" y="80114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987" r="-3617" b="-13004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93974" y="1501029"/>
            <a:ext cx="8971059" cy="57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Methodology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1748" y="2259014"/>
            <a:ext cx="9538843" cy="578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3499" b="1">
                <a:solidFill>
                  <a:srgbClr val="213163"/>
                </a:solidFill>
                <a:latin typeface="Futura Bold"/>
                <a:ea typeface="Futura Bold"/>
                <a:cs typeface="Futura Bold"/>
                <a:sym typeface="Futura Bold"/>
              </a:rPr>
              <a:t>Deployment</a:t>
            </a:r>
          </a:p>
          <a:p>
            <a:pPr marL="669289" lvl="1" indent="-334645" algn="l">
              <a:lnSpc>
                <a:spcPts val="3719"/>
              </a:lnSpc>
              <a:buFont typeface="Arial"/>
              <a:buChar char="•"/>
            </a:pPr>
            <a:r>
              <a:rPr lang="en-US" sz="3099">
                <a:solidFill>
                  <a:srgbClr val="213163"/>
                </a:solidFill>
                <a:latin typeface="Georgia Pro"/>
                <a:ea typeface="Georgia Pro"/>
                <a:cs typeface="Georgia Pro"/>
                <a:sym typeface="Georgia Pro"/>
              </a:rPr>
              <a:t>Built a Streamlit web application (app.py) for real-time fire type prediction.</a:t>
            </a:r>
          </a:p>
          <a:p>
            <a:pPr marL="669289" lvl="1" indent="-334645" algn="l">
              <a:lnSpc>
                <a:spcPts val="3719"/>
              </a:lnSpc>
              <a:buFont typeface="Arial"/>
              <a:buChar char="•"/>
            </a:pPr>
            <a:r>
              <a:rPr lang="en-US" sz="3099">
                <a:solidFill>
                  <a:srgbClr val="213163"/>
                </a:solidFill>
                <a:latin typeface="Georgia Pro"/>
                <a:ea typeface="Georgia Pro"/>
                <a:cs typeface="Georgia Pro"/>
                <a:sym typeface="Georgia Pro"/>
              </a:rPr>
              <a:t>Allowed users to input satellite parameters and get instant predictions.</a:t>
            </a:r>
          </a:p>
          <a:p>
            <a:pPr algn="l">
              <a:lnSpc>
                <a:spcPts val="3719"/>
              </a:lnSpc>
            </a:pPr>
            <a:endParaRPr lang="en-US" sz="3099">
              <a:solidFill>
                <a:srgbClr val="213163"/>
              </a:solidFill>
              <a:latin typeface="Georgia Pro"/>
              <a:ea typeface="Georgia Pro"/>
              <a:cs typeface="Georgia Pro"/>
              <a:sym typeface="Georgia Pro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3499" b="1">
                <a:solidFill>
                  <a:srgbClr val="213163"/>
                </a:solidFill>
                <a:latin typeface="Futura Bold"/>
                <a:ea typeface="Futura Bold"/>
                <a:cs typeface="Futura Bold"/>
                <a:sym typeface="Futura Bold"/>
              </a:rPr>
              <a:t>Visualization &amp; Insights</a:t>
            </a:r>
          </a:p>
          <a:p>
            <a:pPr marL="669289" lvl="1" indent="-334645" algn="l">
              <a:lnSpc>
                <a:spcPts val="3719"/>
              </a:lnSpc>
              <a:buFont typeface="Arial"/>
              <a:buChar char="•"/>
            </a:pPr>
            <a:r>
              <a:rPr lang="en-US" sz="3099">
                <a:solidFill>
                  <a:srgbClr val="213163"/>
                </a:solidFill>
                <a:latin typeface="Georgia Pro"/>
                <a:ea typeface="Georgia Pro"/>
                <a:cs typeface="Georgia Pro"/>
                <a:sym typeface="Georgia Pro"/>
              </a:rPr>
              <a:t>Created graphs and charts (from the Jupyter notebook) to visualize feature relationships and fire patterns.</a:t>
            </a:r>
          </a:p>
          <a:p>
            <a:pPr marL="669289" lvl="1" indent="-334645" algn="l">
              <a:lnSpc>
                <a:spcPts val="3719"/>
              </a:lnSpc>
              <a:buFont typeface="Arial"/>
              <a:buChar char="•"/>
            </a:pPr>
            <a:r>
              <a:rPr lang="en-US" sz="3099">
                <a:solidFill>
                  <a:srgbClr val="213163"/>
                </a:solidFill>
                <a:latin typeface="Georgia Pro"/>
                <a:ea typeface="Georgia Pro"/>
                <a:cs typeface="Georgia Pro"/>
                <a:sym typeface="Georgia Pro"/>
              </a:rPr>
              <a:t>Provided insights for deforestation monitoring and disaster prevention.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5109032" y="117003"/>
            <a:ext cx="2700338" cy="863271"/>
            <a:chOff x="0" y="0"/>
            <a:chExt cx="3600450" cy="1151028"/>
          </a:xfrm>
        </p:grpSpPr>
        <p:sp>
          <p:nvSpPr>
            <p:cNvPr id="3" name="Freeform 3" descr="A close up of a sign  Description automatically generated"/>
            <p:cNvSpPr/>
            <p:nvPr/>
          </p:nvSpPr>
          <p:spPr>
            <a:xfrm>
              <a:off x="0" y="0"/>
              <a:ext cx="3600450" cy="1151001"/>
            </a:xfrm>
            <a:custGeom>
              <a:avLst/>
              <a:gdLst/>
              <a:ahLst/>
              <a:cxnLst/>
              <a:rect l="l" t="t" r="r" b="b"/>
              <a:pathLst>
                <a:path w="3600450" h="1151001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457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19048" y="-19050"/>
            <a:ext cx="14782800" cy="1114545"/>
            <a:chOff x="0" y="0"/>
            <a:chExt cx="19710400" cy="1486060"/>
          </a:xfrm>
        </p:grpSpPr>
        <p:sp>
          <p:nvSpPr>
            <p:cNvPr id="5" name="Freeform 5"/>
            <p:cNvSpPr/>
            <p:nvPr/>
          </p:nvSpPr>
          <p:spPr>
            <a:xfrm>
              <a:off x="25400" y="25400"/>
              <a:ext cx="19659600" cy="1435227"/>
            </a:xfrm>
            <a:custGeom>
              <a:avLst/>
              <a:gdLst/>
              <a:ahLst/>
              <a:cxnLst/>
              <a:rect l="l" t="t" r="r" b="b"/>
              <a:pathLst>
                <a:path w="19659600" h="1435227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19710400" cy="1486027"/>
            </a:xfrm>
            <a:custGeom>
              <a:avLst/>
              <a:gdLst/>
              <a:ahLst/>
              <a:cxnLst/>
              <a:rect l="l" t="t" r="r" b="b"/>
              <a:pathLst>
                <a:path w="19710400" h="1486027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4833450" y="-628"/>
            <a:ext cx="168424" cy="1098536"/>
            <a:chOff x="0" y="0"/>
            <a:chExt cx="224566" cy="14647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536" cy="1464691"/>
            </a:xfrm>
            <a:custGeom>
              <a:avLst/>
              <a:gdLst/>
              <a:ahLst/>
              <a:cxnLst/>
              <a:rect l="l" t="t" r="r" b="b"/>
              <a:pathLst>
                <a:path w="224536" h="1464691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0" y="-19050"/>
            <a:ext cx="14758988" cy="1085852"/>
            <a:chOff x="0" y="0"/>
            <a:chExt cx="19678650" cy="1447802"/>
          </a:xfrm>
        </p:grpSpPr>
        <p:sp>
          <p:nvSpPr>
            <p:cNvPr id="10" name="Freeform 10" descr="A blue and white background  Description automatically generated with medium confidence"/>
            <p:cNvSpPr/>
            <p:nvPr/>
          </p:nvSpPr>
          <p:spPr>
            <a:xfrm>
              <a:off x="0" y="0"/>
              <a:ext cx="19678650" cy="1447800"/>
            </a:xfrm>
            <a:custGeom>
              <a:avLst/>
              <a:gdLst/>
              <a:ahLst/>
              <a:cxnLst/>
              <a:rect l="l" t="t" r="r" b="b"/>
              <a:pathLst>
                <a:path w="19678650" h="144780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t="-213488" r="-1645" b="-549998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887950" y="-628"/>
            <a:ext cx="400050" cy="1098536"/>
            <a:chOff x="0" y="0"/>
            <a:chExt cx="533400" cy="14647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3400" cy="1464691"/>
            </a:xfrm>
            <a:custGeom>
              <a:avLst/>
              <a:gdLst/>
              <a:ahLst/>
              <a:cxnLst/>
              <a:rect l="l" t="t" r="r" b="b"/>
              <a:pathLst>
                <a:path w="533400" h="1464691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id="13" name="Freeform 13"/>
          <p:cNvSpPr/>
          <p:nvPr/>
        </p:nvSpPr>
        <p:spPr>
          <a:xfrm>
            <a:off x="2854644" y="6324342"/>
            <a:ext cx="12147231" cy="5048184"/>
          </a:xfrm>
          <a:custGeom>
            <a:avLst/>
            <a:gdLst/>
            <a:ahLst/>
            <a:cxnLst/>
            <a:rect l="l" t="t" r="r" b="b"/>
            <a:pathLst>
              <a:path w="12147231" h="5048184">
                <a:moveTo>
                  <a:pt x="0" y="0"/>
                </a:moveTo>
                <a:lnTo>
                  <a:pt x="12147231" y="0"/>
                </a:lnTo>
                <a:lnTo>
                  <a:pt x="12147231" y="5048184"/>
                </a:lnTo>
                <a:lnTo>
                  <a:pt x="0" y="50481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2863" b="-12863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74096" y="1560663"/>
            <a:ext cx="8971059" cy="57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Statement: 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1605" y="2361942"/>
            <a:ext cx="17746395" cy="3667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3399" b="1">
                <a:solidFill>
                  <a:srgbClr val="213163"/>
                </a:solidFill>
                <a:latin typeface="Futura Bold"/>
                <a:ea typeface="Futura Bold"/>
                <a:cs typeface="Futura Bold"/>
                <a:sym typeface="Futura Bold"/>
              </a:rPr>
              <a:t>Uncontrolled forest fires are a major contributor to deforestation, biodiversity loss, and environmental damage.</a:t>
            </a:r>
          </a:p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3399" b="1">
                <a:solidFill>
                  <a:srgbClr val="213163"/>
                </a:solidFill>
                <a:latin typeface="Futura Bold"/>
                <a:ea typeface="Futura Bold"/>
                <a:cs typeface="Futura Bold"/>
                <a:sym typeface="Futura Bold"/>
              </a:rPr>
              <a:t> Traditional fire monitoring methods are slow, manual, and lack real-time detection capabilities.</a:t>
            </a:r>
          </a:p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3399" b="1">
                <a:solidFill>
                  <a:srgbClr val="213163"/>
                </a:solidFill>
                <a:latin typeface="Futura Bold"/>
                <a:ea typeface="Futura Bold"/>
                <a:cs typeface="Futura Bold"/>
                <a:sym typeface="Futura Bold"/>
              </a:rPr>
              <a:t> There is a critical need for a data-driven solution that leverages MODIS satellite readings to classify fire types—such as Vegetation Fires, Offshore Fires, and Other Land Sources—to enable early warning, improve disaster response, and support environmental protection.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5109032" y="117003"/>
            <a:ext cx="2700338" cy="863271"/>
            <a:chOff x="0" y="0"/>
            <a:chExt cx="3600450" cy="1151028"/>
          </a:xfrm>
        </p:grpSpPr>
        <p:sp>
          <p:nvSpPr>
            <p:cNvPr id="3" name="Freeform 3" descr="A close up of a sign  Description automatically generated"/>
            <p:cNvSpPr/>
            <p:nvPr/>
          </p:nvSpPr>
          <p:spPr>
            <a:xfrm>
              <a:off x="0" y="0"/>
              <a:ext cx="3600450" cy="1151001"/>
            </a:xfrm>
            <a:custGeom>
              <a:avLst/>
              <a:gdLst/>
              <a:ahLst/>
              <a:cxnLst/>
              <a:rect l="l" t="t" r="r" b="b"/>
              <a:pathLst>
                <a:path w="3600450" h="1151001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457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19048" y="-19050"/>
            <a:ext cx="14782800" cy="1114545"/>
            <a:chOff x="0" y="0"/>
            <a:chExt cx="19710400" cy="1486060"/>
          </a:xfrm>
        </p:grpSpPr>
        <p:sp>
          <p:nvSpPr>
            <p:cNvPr id="5" name="Freeform 5"/>
            <p:cNvSpPr/>
            <p:nvPr/>
          </p:nvSpPr>
          <p:spPr>
            <a:xfrm>
              <a:off x="25400" y="25400"/>
              <a:ext cx="19659600" cy="1435227"/>
            </a:xfrm>
            <a:custGeom>
              <a:avLst/>
              <a:gdLst/>
              <a:ahLst/>
              <a:cxnLst/>
              <a:rect l="l" t="t" r="r" b="b"/>
              <a:pathLst>
                <a:path w="19659600" h="1435227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19710400" cy="1486027"/>
            </a:xfrm>
            <a:custGeom>
              <a:avLst/>
              <a:gdLst/>
              <a:ahLst/>
              <a:cxnLst/>
              <a:rect l="l" t="t" r="r" b="b"/>
              <a:pathLst>
                <a:path w="19710400" h="1486027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4833450" y="-628"/>
            <a:ext cx="168424" cy="1098536"/>
            <a:chOff x="0" y="0"/>
            <a:chExt cx="224566" cy="14647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536" cy="1464691"/>
            </a:xfrm>
            <a:custGeom>
              <a:avLst/>
              <a:gdLst/>
              <a:ahLst/>
              <a:cxnLst/>
              <a:rect l="l" t="t" r="r" b="b"/>
              <a:pathLst>
                <a:path w="224536" h="1464691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0" y="-19050"/>
            <a:ext cx="14758988" cy="1085852"/>
            <a:chOff x="0" y="0"/>
            <a:chExt cx="19678650" cy="1447802"/>
          </a:xfrm>
        </p:grpSpPr>
        <p:sp>
          <p:nvSpPr>
            <p:cNvPr id="10" name="Freeform 10" descr="A blue and white background  Description automatically generated with medium confidence"/>
            <p:cNvSpPr/>
            <p:nvPr/>
          </p:nvSpPr>
          <p:spPr>
            <a:xfrm>
              <a:off x="0" y="0"/>
              <a:ext cx="19678650" cy="1447800"/>
            </a:xfrm>
            <a:custGeom>
              <a:avLst/>
              <a:gdLst/>
              <a:ahLst/>
              <a:cxnLst/>
              <a:rect l="l" t="t" r="r" b="b"/>
              <a:pathLst>
                <a:path w="19678650" h="144780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t="-213488" r="-1645" b="-549998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887950" y="-628"/>
            <a:ext cx="400050" cy="1098536"/>
            <a:chOff x="0" y="0"/>
            <a:chExt cx="533400" cy="14647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3400" cy="1464691"/>
            </a:xfrm>
            <a:custGeom>
              <a:avLst/>
              <a:gdLst/>
              <a:ahLst/>
              <a:cxnLst/>
              <a:rect l="l" t="t" r="r" b="b"/>
              <a:pathLst>
                <a:path w="533400" h="1464691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474096" y="1560663"/>
            <a:ext cx="8971059" cy="57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Solution: 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5535" y="2069388"/>
            <a:ext cx="18541512" cy="2928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7"/>
              </a:lnSpc>
              <a:spcBef>
                <a:spcPct val="0"/>
              </a:spcBef>
            </a:pPr>
            <a:r>
              <a:rPr lang="en-US" sz="3181" b="1">
                <a:solidFill>
                  <a:srgbClr val="213163"/>
                </a:solidFill>
                <a:latin typeface="Futura Bold"/>
                <a:ea typeface="Futura Bold"/>
                <a:cs typeface="Futura Bold"/>
                <a:sym typeface="Futura Bold"/>
              </a:rPr>
              <a:t>We built a Machine Learning-based Fire Type Classifier to detect vegetation and offshore fires using MODIS satellite data.</a:t>
            </a:r>
          </a:p>
          <a:p>
            <a:pPr marL="686871" lvl="1" indent="-343436" algn="l">
              <a:lnSpc>
                <a:spcPts val="3817"/>
              </a:lnSpc>
              <a:buFont typeface="Arial"/>
              <a:buChar char="•"/>
            </a:pPr>
            <a:r>
              <a:rPr lang="en-US" sz="3181" b="1">
                <a:solidFill>
                  <a:srgbClr val="213163"/>
                </a:solidFill>
                <a:latin typeface="Futura Bold"/>
                <a:ea typeface="Futura Bold"/>
                <a:cs typeface="Futura Bold"/>
                <a:sym typeface="Futura Bold"/>
              </a:rPr>
              <a:t>Applied feature scaling and SMOTE to improve class balance and model accuracy.</a:t>
            </a:r>
          </a:p>
          <a:p>
            <a:pPr marL="686871" lvl="1" indent="-343436" algn="l">
              <a:lnSpc>
                <a:spcPts val="3817"/>
              </a:lnSpc>
              <a:buFont typeface="Arial"/>
              <a:buChar char="•"/>
            </a:pPr>
            <a:r>
              <a:rPr lang="en-US" sz="3181" b="1">
                <a:solidFill>
                  <a:srgbClr val="213163"/>
                </a:solidFill>
                <a:latin typeface="Futura Bold"/>
                <a:ea typeface="Futura Bold"/>
                <a:cs typeface="Futura Bold"/>
                <a:sym typeface="Futura Bold"/>
              </a:rPr>
              <a:t>Selected the best-performing ML algorithm for reliable predictions.</a:t>
            </a:r>
          </a:p>
          <a:p>
            <a:pPr marL="686871" lvl="1" indent="-343436" algn="l">
              <a:lnSpc>
                <a:spcPts val="3817"/>
              </a:lnSpc>
              <a:buFont typeface="Arial"/>
              <a:buChar char="•"/>
            </a:pPr>
            <a:r>
              <a:rPr lang="en-US" sz="3181" b="1">
                <a:solidFill>
                  <a:srgbClr val="213163"/>
                </a:solidFill>
                <a:latin typeface="Futura Bold"/>
                <a:ea typeface="Futura Bold"/>
                <a:cs typeface="Futura Bold"/>
                <a:sym typeface="Futura Bold"/>
              </a:rPr>
              <a:t>Deployed the model as a Streamlit web app for real-time fire type classification.</a:t>
            </a:r>
          </a:p>
          <a:p>
            <a:pPr marL="664525" lvl="1" indent="-332263" algn="l">
              <a:lnSpc>
                <a:spcPts val="3693"/>
              </a:lnSpc>
              <a:buFont typeface="Arial"/>
              <a:buChar char="•"/>
            </a:pPr>
            <a:r>
              <a:rPr lang="en-US" sz="3077" b="1">
                <a:solidFill>
                  <a:srgbClr val="213163"/>
                </a:solidFill>
                <a:latin typeface="Futura Bold"/>
                <a:ea typeface="Futura Bold"/>
                <a:cs typeface="Futura Bold"/>
                <a:sym typeface="Futura Bold"/>
              </a:rPr>
              <a:t>Achieved high accuracy, enabling faster deforestation monitoring and disaster prevention.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4116" y="5159021"/>
            <a:ext cx="17233834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2"/>
              </a:lnSpc>
              <a:spcBef>
                <a:spcPct val="0"/>
              </a:spcBef>
            </a:pPr>
            <a:r>
              <a:rPr lang="en-US" sz="3660" b="1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GitHub Repository: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96000" y="7590872"/>
            <a:ext cx="11360128" cy="641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u="sng" dirty="0">
                <a:solidFill>
                  <a:srgbClr val="213163"/>
                </a:solidFill>
                <a:latin typeface="Arimo"/>
                <a:ea typeface="Arimo"/>
                <a:cs typeface="Arimo"/>
                <a:sym typeface="Arimo"/>
                <a:hlinkClick r:id="rId4" tooltip="https://github.com/vani514/Deforestation_Detection.git"/>
              </a:rPr>
              <a:t>https://github.com/vani514/Deforestation_Detection.git</a:t>
            </a:r>
          </a:p>
        </p:txBody>
      </p: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162B2F-2296-CDEE-4F5E-F68C3746C7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2" t="62354" r="63469"/>
          <a:stretch>
            <a:fillRect/>
          </a:stretch>
        </p:blipFill>
        <p:spPr>
          <a:xfrm>
            <a:off x="1143000" y="6164620"/>
            <a:ext cx="4114800" cy="3398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5109032" y="117003"/>
            <a:ext cx="2700338" cy="863271"/>
            <a:chOff x="0" y="0"/>
            <a:chExt cx="3600450" cy="1151028"/>
          </a:xfrm>
        </p:grpSpPr>
        <p:sp>
          <p:nvSpPr>
            <p:cNvPr id="3" name="Freeform 3" descr="A close up of a sign  Description automatically generated"/>
            <p:cNvSpPr/>
            <p:nvPr/>
          </p:nvSpPr>
          <p:spPr>
            <a:xfrm>
              <a:off x="0" y="0"/>
              <a:ext cx="3600450" cy="1151001"/>
            </a:xfrm>
            <a:custGeom>
              <a:avLst/>
              <a:gdLst/>
              <a:ahLst/>
              <a:cxnLst/>
              <a:rect l="l" t="t" r="r" b="b"/>
              <a:pathLst>
                <a:path w="3600450" h="1151001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457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19048" y="-19050"/>
            <a:ext cx="14782800" cy="1114545"/>
            <a:chOff x="0" y="0"/>
            <a:chExt cx="19710400" cy="1486060"/>
          </a:xfrm>
        </p:grpSpPr>
        <p:sp>
          <p:nvSpPr>
            <p:cNvPr id="5" name="Freeform 5"/>
            <p:cNvSpPr/>
            <p:nvPr/>
          </p:nvSpPr>
          <p:spPr>
            <a:xfrm>
              <a:off x="25400" y="25400"/>
              <a:ext cx="19659600" cy="1435227"/>
            </a:xfrm>
            <a:custGeom>
              <a:avLst/>
              <a:gdLst/>
              <a:ahLst/>
              <a:cxnLst/>
              <a:rect l="l" t="t" r="r" b="b"/>
              <a:pathLst>
                <a:path w="19659600" h="1435227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19710400" cy="1486027"/>
            </a:xfrm>
            <a:custGeom>
              <a:avLst/>
              <a:gdLst/>
              <a:ahLst/>
              <a:cxnLst/>
              <a:rect l="l" t="t" r="r" b="b"/>
              <a:pathLst>
                <a:path w="19710400" h="1486027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4833450" y="-628"/>
            <a:ext cx="168424" cy="1098536"/>
            <a:chOff x="0" y="0"/>
            <a:chExt cx="224566" cy="14647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536" cy="1464691"/>
            </a:xfrm>
            <a:custGeom>
              <a:avLst/>
              <a:gdLst/>
              <a:ahLst/>
              <a:cxnLst/>
              <a:rect l="l" t="t" r="r" b="b"/>
              <a:pathLst>
                <a:path w="224536" h="1464691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0" y="-19050"/>
            <a:ext cx="14758988" cy="1085852"/>
            <a:chOff x="0" y="0"/>
            <a:chExt cx="19678650" cy="1447802"/>
          </a:xfrm>
        </p:grpSpPr>
        <p:sp>
          <p:nvSpPr>
            <p:cNvPr id="10" name="Freeform 10" descr="A blue and white background  Description automatically generated with medium confidence"/>
            <p:cNvSpPr/>
            <p:nvPr/>
          </p:nvSpPr>
          <p:spPr>
            <a:xfrm>
              <a:off x="0" y="0"/>
              <a:ext cx="19678650" cy="1447800"/>
            </a:xfrm>
            <a:custGeom>
              <a:avLst/>
              <a:gdLst/>
              <a:ahLst/>
              <a:cxnLst/>
              <a:rect l="l" t="t" r="r" b="b"/>
              <a:pathLst>
                <a:path w="19678650" h="144780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t="-213488" r="-1645" b="-549998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887950" y="-628"/>
            <a:ext cx="400050" cy="1098536"/>
            <a:chOff x="0" y="0"/>
            <a:chExt cx="533400" cy="14647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3400" cy="1464691"/>
            </a:xfrm>
            <a:custGeom>
              <a:avLst/>
              <a:gdLst/>
              <a:ahLst/>
              <a:cxnLst/>
              <a:rect l="l" t="t" r="r" b="b"/>
              <a:pathLst>
                <a:path w="533400" h="1464691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id="13" name="Freeform 13"/>
          <p:cNvSpPr/>
          <p:nvPr/>
        </p:nvSpPr>
        <p:spPr>
          <a:xfrm>
            <a:off x="2632826" y="2359119"/>
            <a:ext cx="13022349" cy="7321496"/>
          </a:xfrm>
          <a:custGeom>
            <a:avLst/>
            <a:gdLst/>
            <a:ahLst/>
            <a:cxnLst/>
            <a:rect l="l" t="t" r="r" b="b"/>
            <a:pathLst>
              <a:path w="13022349" h="7321496">
                <a:moveTo>
                  <a:pt x="0" y="0"/>
                </a:moveTo>
                <a:lnTo>
                  <a:pt x="13022348" y="0"/>
                </a:lnTo>
                <a:lnTo>
                  <a:pt x="13022348" y="7321497"/>
                </a:lnTo>
                <a:lnTo>
                  <a:pt x="0" y="73214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74096" y="1560663"/>
            <a:ext cx="8971059" cy="57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Screenshot of Output: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5109032" y="117003"/>
            <a:ext cx="2700338" cy="863271"/>
            <a:chOff x="0" y="0"/>
            <a:chExt cx="3600450" cy="1151028"/>
          </a:xfrm>
        </p:grpSpPr>
        <p:sp>
          <p:nvSpPr>
            <p:cNvPr id="3" name="Freeform 3" descr="A close up of a sign  Description automatically generated"/>
            <p:cNvSpPr/>
            <p:nvPr/>
          </p:nvSpPr>
          <p:spPr>
            <a:xfrm>
              <a:off x="0" y="0"/>
              <a:ext cx="3600450" cy="1151001"/>
            </a:xfrm>
            <a:custGeom>
              <a:avLst/>
              <a:gdLst/>
              <a:ahLst/>
              <a:cxnLst/>
              <a:rect l="l" t="t" r="r" b="b"/>
              <a:pathLst>
                <a:path w="3600450" h="1151001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457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19048" y="-19050"/>
            <a:ext cx="14782800" cy="1114545"/>
            <a:chOff x="0" y="0"/>
            <a:chExt cx="19710400" cy="1486060"/>
          </a:xfrm>
        </p:grpSpPr>
        <p:sp>
          <p:nvSpPr>
            <p:cNvPr id="5" name="Freeform 5"/>
            <p:cNvSpPr/>
            <p:nvPr/>
          </p:nvSpPr>
          <p:spPr>
            <a:xfrm>
              <a:off x="25400" y="25400"/>
              <a:ext cx="19659600" cy="1435227"/>
            </a:xfrm>
            <a:custGeom>
              <a:avLst/>
              <a:gdLst/>
              <a:ahLst/>
              <a:cxnLst/>
              <a:rect l="l" t="t" r="r" b="b"/>
              <a:pathLst>
                <a:path w="19659600" h="1435227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19710400" cy="1486027"/>
            </a:xfrm>
            <a:custGeom>
              <a:avLst/>
              <a:gdLst/>
              <a:ahLst/>
              <a:cxnLst/>
              <a:rect l="l" t="t" r="r" b="b"/>
              <a:pathLst>
                <a:path w="19710400" h="1486027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4833450" y="-628"/>
            <a:ext cx="168424" cy="1098536"/>
            <a:chOff x="0" y="0"/>
            <a:chExt cx="224566" cy="14647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536" cy="1464691"/>
            </a:xfrm>
            <a:custGeom>
              <a:avLst/>
              <a:gdLst/>
              <a:ahLst/>
              <a:cxnLst/>
              <a:rect l="l" t="t" r="r" b="b"/>
              <a:pathLst>
                <a:path w="224536" h="1464691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0" y="-19050"/>
            <a:ext cx="14758988" cy="1085852"/>
            <a:chOff x="0" y="0"/>
            <a:chExt cx="19678650" cy="1447802"/>
          </a:xfrm>
        </p:grpSpPr>
        <p:sp>
          <p:nvSpPr>
            <p:cNvPr id="10" name="Freeform 10" descr="A blue and white background  Description automatically generated with medium confidence"/>
            <p:cNvSpPr/>
            <p:nvPr/>
          </p:nvSpPr>
          <p:spPr>
            <a:xfrm>
              <a:off x="0" y="0"/>
              <a:ext cx="19678650" cy="1447800"/>
            </a:xfrm>
            <a:custGeom>
              <a:avLst/>
              <a:gdLst/>
              <a:ahLst/>
              <a:cxnLst/>
              <a:rect l="l" t="t" r="r" b="b"/>
              <a:pathLst>
                <a:path w="19678650" h="144780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t="-213488" r="-1645" b="-549998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887950" y="-628"/>
            <a:ext cx="400050" cy="1098536"/>
            <a:chOff x="0" y="0"/>
            <a:chExt cx="533400" cy="14647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3400" cy="1464691"/>
            </a:xfrm>
            <a:custGeom>
              <a:avLst/>
              <a:gdLst/>
              <a:ahLst/>
              <a:cxnLst/>
              <a:rect l="l" t="t" r="r" b="b"/>
              <a:pathLst>
                <a:path w="533400" h="1464691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id="13" name="Freeform 13"/>
          <p:cNvSpPr/>
          <p:nvPr/>
        </p:nvSpPr>
        <p:spPr>
          <a:xfrm>
            <a:off x="2794825" y="2399173"/>
            <a:ext cx="12698350" cy="7139336"/>
          </a:xfrm>
          <a:custGeom>
            <a:avLst/>
            <a:gdLst/>
            <a:ahLst/>
            <a:cxnLst/>
            <a:rect l="l" t="t" r="r" b="b"/>
            <a:pathLst>
              <a:path w="12698350" h="7139336">
                <a:moveTo>
                  <a:pt x="0" y="0"/>
                </a:moveTo>
                <a:lnTo>
                  <a:pt x="12698350" y="0"/>
                </a:lnTo>
                <a:lnTo>
                  <a:pt x="12698350" y="7139335"/>
                </a:lnTo>
                <a:lnTo>
                  <a:pt x="0" y="7139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74096" y="1560663"/>
            <a:ext cx="8971059" cy="57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Screenshot of Output: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5109032" y="117003"/>
            <a:ext cx="2700338" cy="863271"/>
            <a:chOff x="0" y="0"/>
            <a:chExt cx="3600450" cy="1151028"/>
          </a:xfrm>
        </p:grpSpPr>
        <p:sp>
          <p:nvSpPr>
            <p:cNvPr id="3" name="Freeform 3" descr="A close up of a sign  Description automatically generated"/>
            <p:cNvSpPr/>
            <p:nvPr/>
          </p:nvSpPr>
          <p:spPr>
            <a:xfrm>
              <a:off x="0" y="0"/>
              <a:ext cx="3600450" cy="1151001"/>
            </a:xfrm>
            <a:custGeom>
              <a:avLst/>
              <a:gdLst/>
              <a:ahLst/>
              <a:cxnLst/>
              <a:rect l="l" t="t" r="r" b="b"/>
              <a:pathLst>
                <a:path w="3600450" h="1151001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457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19048" y="-19050"/>
            <a:ext cx="14782800" cy="1114545"/>
            <a:chOff x="0" y="0"/>
            <a:chExt cx="19710400" cy="1486060"/>
          </a:xfrm>
        </p:grpSpPr>
        <p:sp>
          <p:nvSpPr>
            <p:cNvPr id="5" name="Freeform 5"/>
            <p:cNvSpPr/>
            <p:nvPr/>
          </p:nvSpPr>
          <p:spPr>
            <a:xfrm>
              <a:off x="25400" y="25400"/>
              <a:ext cx="19659600" cy="1435227"/>
            </a:xfrm>
            <a:custGeom>
              <a:avLst/>
              <a:gdLst/>
              <a:ahLst/>
              <a:cxnLst/>
              <a:rect l="l" t="t" r="r" b="b"/>
              <a:pathLst>
                <a:path w="19659600" h="1435227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19710400" cy="1486027"/>
            </a:xfrm>
            <a:custGeom>
              <a:avLst/>
              <a:gdLst/>
              <a:ahLst/>
              <a:cxnLst/>
              <a:rect l="l" t="t" r="r" b="b"/>
              <a:pathLst>
                <a:path w="19710400" h="1486027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4833450" y="-628"/>
            <a:ext cx="168424" cy="1098536"/>
            <a:chOff x="0" y="0"/>
            <a:chExt cx="224566" cy="14647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536" cy="1464691"/>
            </a:xfrm>
            <a:custGeom>
              <a:avLst/>
              <a:gdLst/>
              <a:ahLst/>
              <a:cxnLst/>
              <a:rect l="l" t="t" r="r" b="b"/>
              <a:pathLst>
                <a:path w="224536" h="1464691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0" y="-19050"/>
            <a:ext cx="14758988" cy="1085852"/>
            <a:chOff x="0" y="0"/>
            <a:chExt cx="19678650" cy="1447802"/>
          </a:xfrm>
        </p:grpSpPr>
        <p:sp>
          <p:nvSpPr>
            <p:cNvPr id="10" name="Freeform 10" descr="A blue and white background  Description automatically generated with medium confidence"/>
            <p:cNvSpPr/>
            <p:nvPr/>
          </p:nvSpPr>
          <p:spPr>
            <a:xfrm>
              <a:off x="0" y="0"/>
              <a:ext cx="19678650" cy="1447800"/>
            </a:xfrm>
            <a:custGeom>
              <a:avLst/>
              <a:gdLst/>
              <a:ahLst/>
              <a:cxnLst/>
              <a:rect l="l" t="t" r="r" b="b"/>
              <a:pathLst>
                <a:path w="19678650" h="144780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t="-213488" r="-1645" b="-549998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887950" y="-628"/>
            <a:ext cx="400050" cy="1098536"/>
            <a:chOff x="0" y="0"/>
            <a:chExt cx="533400" cy="14647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3400" cy="1464691"/>
            </a:xfrm>
            <a:custGeom>
              <a:avLst/>
              <a:gdLst/>
              <a:ahLst/>
              <a:cxnLst/>
              <a:rect l="l" t="t" r="r" b="b"/>
              <a:pathLst>
                <a:path w="533400" h="1464691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id="13" name="Freeform 13"/>
          <p:cNvSpPr/>
          <p:nvPr/>
        </p:nvSpPr>
        <p:spPr>
          <a:xfrm>
            <a:off x="2794825" y="2445623"/>
            <a:ext cx="12698350" cy="7139336"/>
          </a:xfrm>
          <a:custGeom>
            <a:avLst/>
            <a:gdLst/>
            <a:ahLst/>
            <a:cxnLst/>
            <a:rect l="l" t="t" r="r" b="b"/>
            <a:pathLst>
              <a:path w="12698350" h="7139336">
                <a:moveTo>
                  <a:pt x="0" y="0"/>
                </a:moveTo>
                <a:lnTo>
                  <a:pt x="12698350" y="0"/>
                </a:lnTo>
                <a:lnTo>
                  <a:pt x="12698350" y="7139336"/>
                </a:lnTo>
                <a:lnTo>
                  <a:pt x="0" y="7139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74096" y="1560663"/>
            <a:ext cx="8971059" cy="57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Screenshot of Output: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5109032" y="117003"/>
            <a:ext cx="2700338" cy="863271"/>
            <a:chOff x="0" y="0"/>
            <a:chExt cx="3600450" cy="1151028"/>
          </a:xfrm>
        </p:grpSpPr>
        <p:sp>
          <p:nvSpPr>
            <p:cNvPr id="3" name="Freeform 3" descr="A close up of a sign  Description automatically generated"/>
            <p:cNvSpPr/>
            <p:nvPr/>
          </p:nvSpPr>
          <p:spPr>
            <a:xfrm>
              <a:off x="0" y="0"/>
              <a:ext cx="3600450" cy="1151001"/>
            </a:xfrm>
            <a:custGeom>
              <a:avLst/>
              <a:gdLst/>
              <a:ahLst/>
              <a:cxnLst/>
              <a:rect l="l" t="t" r="r" b="b"/>
              <a:pathLst>
                <a:path w="3600450" h="1151001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457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19048" y="-19050"/>
            <a:ext cx="14782800" cy="1114545"/>
            <a:chOff x="0" y="0"/>
            <a:chExt cx="19710400" cy="1486060"/>
          </a:xfrm>
        </p:grpSpPr>
        <p:sp>
          <p:nvSpPr>
            <p:cNvPr id="5" name="Freeform 5"/>
            <p:cNvSpPr/>
            <p:nvPr/>
          </p:nvSpPr>
          <p:spPr>
            <a:xfrm>
              <a:off x="25400" y="25400"/>
              <a:ext cx="19659600" cy="1435227"/>
            </a:xfrm>
            <a:custGeom>
              <a:avLst/>
              <a:gdLst/>
              <a:ahLst/>
              <a:cxnLst/>
              <a:rect l="l" t="t" r="r" b="b"/>
              <a:pathLst>
                <a:path w="19659600" h="1435227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19710400" cy="1486027"/>
            </a:xfrm>
            <a:custGeom>
              <a:avLst/>
              <a:gdLst/>
              <a:ahLst/>
              <a:cxnLst/>
              <a:rect l="l" t="t" r="r" b="b"/>
              <a:pathLst>
                <a:path w="19710400" h="1486027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4833450" y="-628"/>
            <a:ext cx="168424" cy="1098536"/>
            <a:chOff x="0" y="0"/>
            <a:chExt cx="224566" cy="14647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536" cy="1464691"/>
            </a:xfrm>
            <a:custGeom>
              <a:avLst/>
              <a:gdLst/>
              <a:ahLst/>
              <a:cxnLst/>
              <a:rect l="l" t="t" r="r" b="b"/>
              <a:pathLst>
                <a:path w="224536" h="1464691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0" y="-19050"/>
            <a:ext cx="14758988" cy="1085852"/>
            <a:chOff x="0" y="0"/>
            <a:chExt cx="19678650" cy="1447802"/>
          </a:xfrm>
        </p:grpSpPr>
        <p:sp>
          <p:nvSpPr>
            <p:cNvPr id="10" name="Freeform 10" descr="A blue and white background  Description automatically generated with medium confidence"/>
            <p:cNvSpPr/>
            <p:nvPr/>
          </p:nvSpPr>
          <p:spPr>
            <a:xfrm>
              <a:off x="0" y="0"/>
              <a:ext cx="19678650" cy="1447800"/>
            </a:xfrm>
            <a:custGeom>
              <a:avLst/>
              <a:gdLst/>
              <a:ahLst/>
              <a:cxnLst/>
              <a:rect l="l" t="t" r="r" b="b"/>
              <a:pathLst>
                <a:path w="19678650" h="144780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t="-213488" r="-1645" b="-549998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887950" y="-628"/>
            <a:ext cx="400050" cy="1098536"/>
            <a:chOff x="0" y="0"/>
            <a:chExt cx="533400" cy="14647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3400" cy="1464691"/>
            </a:xfrm>
            <a:custGeom>
              <a:avLst/>
              <a:gdLst/>
              <a:ahLst/>
              <a:cxnLst/>
              <a:rect l="l" t="t" r="r" b="b"/>
              <a:pathLst>
                <a:path w="533400" h="1464691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id="13" name="Freeform 13"/>
          <p:cNvSpPr/>
          <p:nvPr/>
        </p:nvSpPr>
        <p:spPr>
          <a:xfrm>
            <a:off x="3095980" y="2445623"/>
            <a:ext cx="12698350" cy="7139336"/>
          </a:xfrm>
          <a:custGeom>
            <a:avLst/>
            <a:gdLst/>
            <a:ahLst/>
            <a:cxnLst/>
            <a:rect l="l" t="t" r="r" b="b"/>
            <a:pathLst>
              <a:path w="12698350" h="7139336">
                <a:moveTo>
                  <a:pt x="0" y="0"/>
                </a:moveTo>
                <a:lnTo>
                  <a:pt x="12698350" y="0"/>
                </a:lnTo>
                <a:lnTo>
                  <a:pt x="12698350" y="7139336"/>
                </a:lnTo>
                <a:lnTo>
                  <a:pt x="0" y="7139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74096" y="1560663"/>
            <a:ext cx="8971059" cy="57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Screenshot of Output: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5109032" y="117003"/>
            <a:ext cx="2700338" cy="863271"/>
            <a:chOff x="0" y="0"/>
            <a:chExt cx="3600450" cy="1151028"/>
          </a:xfrm>
        </p:grpSpPr>
        <p:sp>
          <p:nvSpPr>
            <p:cNvPr id="3" name="Freeform 3" descr="A close up of a sign  Description automatically generated"/>
            <p:cNvSpPr/>
            <p:nvPr/>
          </p:nvSpPr>
          <p:spPr>
            <a:xfrm>
              <a:off x="0" y="0"/>
              <a:ext cx="3600450" cy="1151001"/>
            </a:xfrm>
            <a:custGeom>
              <a:avLst/>
              <a:gdLst/>
              <a:ahLst/>
              <a:cxnLst/>
              <a:rect l="l" t="t" r="r" b="b"/>
              <a:pathLst>
                <a:path w="3600450" h="1151001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457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19048" y="-19050"/>
            <a:ext cx="14782800" cy="1114545"/>
            <a:chOff x="0" y="0"/>
            <a:chExt cx="19710400" cy="1486060"/>
          </a:xfrm>
        </p:grpSpPr>
        <p:sp>
          <p:nvSpPr>
            <p:cNvPr id="5" name="Freeform 5"/>
            <p:cNvSpPr/>
            <p:nvPr/>
          </p:nvSpPr>
          <p:spPr>
            <a:xfrm>
              <a:off x="25400" y="25400"/>
              <a:ext cx="19659600" cy="1435227"/>
            </a:xfrm>
            <a:custGeom>
              <a:avLst/>
              <a:gdLst/>
              <a:ahLst/>
              <a:cxnLst/>
              <a:rect l="l" t="t" r="r" b="b"/>
              <a:pathLst>
                <a:path w="19659600" h="1435227">
                  <a:moveTo>
                    <a:pt x="0" y="0"/>
                  </a:moveTo>
                  <a:lnTo>
                    <a:pt x="19659600" y="0"/>
                  </a:lnTo>
                  <a:lnTo>
                    <a:pt x="19659600" y="1435227"/>
                  </a:lnTo>
                  <a:lnTo>
                    <a:pt x="0" y="1435227"/>
                  </a:lnTo>
                  <a:close/>
                </a:path>
              </a:pathLst>
            </a:custGeom>
            <a:solidFill>
              <a:srgbClr val="213264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19710400" cy="1486027"/>
            </a:xfrm>
            <a:custGeom>
              <a:avLst/>
              <a:gdLst/>
              <a:ahLst/>
              <a:cxnLst/>
              <a:rect l="l" t="t" r="r" b="b"/>
              <a:pathLst>
                <a:path w="19710400" h="1486027">
                  <a:moveTo>
                    <a:pt x="25400" y="0"/>
                  </a:moveTo>
                  <a:lnTo>
                    <a:pt x="19685000" y="0"/>
                  </a:lnTo>
                  <a:cubicBezTo>
                    <a:pt x="19698970" y="0"/>
                    <a:pt x="19710400" y="11430"/>
                    <a:pt x="19710400" y="25400"/>
                  </a:cubicBezTo>
                  <a:lnTo>
                    <a:pt x="19710400" y="1460627"/>
                  </a:lnTo>
                  <a:cubicBezTo>
                    <a:pt x="19710400" y="1474597"/>
                    <a:pt x="19698970" y="1486027"/>
                    <a:pt x="19685000" y="1486027"/>
                  </a:cubicBezTo>
                  <a:lnTo>
                    <a:pt x="25400" y="1486027"/>
                  </a:lnTo>
                  <a:cubicBezTo>
                    <a:pt x="11430" y="1486027"/>
                    <a:pt x="0" y="1474597"/>
                    <a:pt x="0" y="146062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60627"/>
                  </a:lnTo>
                  <a:lnTo>
                    <a:pt x="25400" y="1460627"/>
                  </a:lnTo>
                  <a:lnTo>
                    <a:pt x="25400" y="1435227"/>
                  </a:lnTo>
                  <a:lnTo>
                    <a:pt x="19685000" y="1435227"/>
                  </a:lnTo>
                  <a:lnTo>
                    <a:pt x="19685000" y="1460627"/>
                  </a:lnTo>
                  <a:lnTo>
                    <a:pt x="19659600" y="1460627"/>
                  </a:lnTo>
                  <a:lnTo>
                    <a:pt x="19659600" y="25400"/>
                  </a:lnTo>
                  <a:lnTo>
                    <a:pt x="19685000" y="25400"/>
                  </a:lnTo>
                  <a:lnTo>
                    <a:pt x="19685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13264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4833450" y="-628"/>
            <a:ext cx="168424" cy="1098536"/>
            <a:chOff x="0" y="0"/>
            <a:chExt cx="224566" cy="14647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536" cy="1464691"/>
            </a:xfrm>
            <a:custGeom>
              <a:avLst/>
              <a:gdLst/>
              <a:ahLst/>
              <a:cxnLst/>
              <a:rect l="l" t="t" r="r" b="b"/>
              <a:pathLst>
                <a:path w="224536" h="1464691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0" y="-19050"/>
            <a:ext cx="14758988" cy="1085852"/>
            <a:chOff x="0" y="0"/>
            <a:chExt cx="19678650" cy="1447802"/>
          </a:xfrm>
        </p:grpSpPr>
        <p:sp>
          <p:nvSpPr>
            <p:cNvPr id="10" name="Freeform 10" descr="A blue and white background  Description automatically generated with medium confidence"/>
            <p:cNvSpPr/>
            <p:nvPr/>
          </p:nvSpPr>
          <p:spPr>
            <a:xfrm>
              <a:off x="0" y="0"/>
              <a:ext cx="19678650" cy="1447800"/>
            </a:xfrm>
            <a:custGeom>
              <a:avLst/>
              <a:gdLst/>
              <a:ahLst/>
              <a:cxnLst/>
              <a:rect l="l" t="t" r="r" b="b"/>
              <a:pathLst>
                <a:path w="19678650" h="144780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t="-213488" r="-1645" b="-549998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887950" y="-628"/>
            <a:ext cx="400050" cy="1098536"/>
            <a:chOff x="0" y="0"/>
            <a:chExt cx="533400" cy="14647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3400" cy="1464691"/>
            </a:xfrm>
            <a:custGeom>
              <a:avLst/>
              <a:gdLst/>
              <a:ahLst/>
              <a:cxnLst/>
              <a:rect l="l" t="t" r="r" b="b"/>
              <a:pathLst>
                <a:path w="533400" h="1464691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315070" y="1461272"/>
            <a:ext cx="8971059" cy="57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Conclusion: 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4350" y="2389096"/>
            <a:ext cx="17773650" cy="209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7"/>
              </a:lnSpc>
              <a:spcBef>
                <a:spcPct val="0"/>
              </a:spcBef>
            </a:pPr>
            <a:r>
              <a:rPr lang="en-US" sz="3364" b="1">
                <a:solidFill>
                  <a:srgbClr val="213163"/>
                </a:solidFill>
                <a:latin typeface="Futura Bold"/>
                <a:ea typeface="Futura Bold"/>
                <a:cs typeface="Futura Bold"/>
                <a:sym typeface="Futura Bold"/>
              </a:rPr>
              <a:t>The Fire Type Classification System successfully leverages MODIS satellite data and Machine Learning to classify fire types with high accuracy.</a:t>
            </a:r>
          </a:p>
          <a:p>
            <a:pPr algn="l">
              <a:lnSpc>
                <a:spcPts val="4037"/>
              </a:lnSpc>
              <a:spcBef>
                <a:spcPct val="0"/>
              </a:spcBef>
            </a:pPr>
            <a:r>
              <a:rPr lang="en-US" sz="3364" b="1">
                <a:solidFill>
                  <a:srgbClr val="213163"/>
                </a:solidFill>
                <a:latin typeface="Futura Bold"/>
                <a:ea typeface="Futura Bold"/>
                <a:cs typeface="Futura Bold"/>
                <a:sym typeface="Futura Bold"/>
              </a:rPr>
              <a:t> Its real-time predictions through the Streamlit web app support early fire detection, deforestation monitoring, and proactive environmental protection.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5070" y="4837022"/>
            <a:ext cx="5288811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9"/>
              </a:lnSpc>
              <a:spcBef>
                <a:spcPct val="0"/>
              </a:spcBef>
            </a:pPr>
            <a:r>
              <a:rPr lang="en-US" sz="3791" b="1">
                <a:solidFill>
                  <a:srgbClr val="213163"/>
                </a:solidFill>
                <a:latin typeface="Futura Bold"/>
                <a:ea typeface="Futura Bold"/>
                <a:cs typeface="Futura Bold"/>
                <a:sym typeface="Futura Bold"/>
              </a:rPr>
              <a:t>Future Scope: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5071" y="5846671"/>
            <a:ext cx="15154573" cy="244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6643" lvl="1" indent="-343321" algn="l">
              <a:lnSpc>
                <a:spcPts val="3816"/>
              </a:lnSpc>
              <a:buFont typeface="Arial"/>
              <a:buChar char="•"/>
            </a:pPr>
            <a:r>
              <a:rPr lang="en-US" sz="3180" b="1">
                <a:solidFill>
                  <a:srgbClr val="213163"/>
                </a:solidFill>
                <a:latin typeface="Futura Bold"/>
                <a:ea typeface="Futura Bold"/>
                <a:cs typeface="Futura Bold"/>
                <a:sym typeface="Futura Bold"/>
              </a:rPr>
              <a:t>Integration with real-time satellite APIs for automatic fire detection.</a:t>
            </a:r>
          </a:p>
          <a:p>
            <a:pPr marL="686643" lvl="1" indent="-343321" algn="l">
              <a:lnSpc>
                <a:spcPts val="3816"/>
              </a:lnSpc>
              <a:buFont typeface="Arial"/>
              <a:buChar char="•"/>
            </a:pPr>
            <a:r>
              <a:rPr lang="en-US" sz="3180" b="1">
                <a:solidFill>
                  <a:srgbClr val="213163"/>
                </a:solidFill>
                <a:latin typeface="Futura Bold"/>
                <a:ea typeface="Futura Bold"/>
                <a:cs typeface="Futura Bold"/>
                <a:sym typeface="Futura Bold"/>
              </a:rPr>
              <a:t>Deployment on cloud platforms to enable large-scale, global monitoring.</a:t>
            </a:r>
          </a:p>
          <a:p>
            <a:pPr marL="686643" lvl="1" indent="-343321" algn="l">
              <a:lnSpc>
                <a:spcPts val="3816"/>
              </a:lnSpc>
              <a:buFont typeface="Arial"/>
              <a:buChar char="•"/>
            </a:pPr>
            <a:r>
              <a:rPr lang="en-US" sz="3180" b="1">
                <a:solidFill>
                  <a:srgbClr val="213163"/>
                </a:solidFill>
                <a:latin typeface="Futura Bold"/>
                <a:ea typeface="Futura Bold"/>
                <a:cs typeface="Futura Bold"/>
                <a:sym typeface="Futura Bold"/>
              </a:rPr>
              <a:t>Addition of advanced models like Deep Learning for higher prediction accuracy.</a:t>
            </a:r>
          </a:p>
          <a:p>
            <a:pPr marL="686643" lvl="1" indent="-343321" algn="l">
              <a:lnSpc>
                <a:spcPts val="3816"/>
              </a:lnSpc>
              <a:buFont typeface="Arial"/>
              <a:buChar char="•"/>
            </a:pPr>
            <a:r>
              <a:rPr lang="en-US" sz="3180" b="1">
                <a:solidFill>
                  <a:srgbClr val="213163"/>
                </a:solidFill>
                <a:latin typeface="Futura Bold"/>
                <a:ea typeface="Futura Bold"/>
                <a:cs typeface="Futura Bold"/>
                <a:sym typeface="Futura Bold"/>
              </a:rPr>
              <a:t>Mobile and web dashboards for faster alerts to authorities and forest departments.</a:t>
            </a:r>
          </a:p>
          <a:p>
            <a:pPr marL="686643" lvl="1" indent="-343321" algn="l">
              <a:lnSpc>
                <a:spcPts val="3816"/>
              </a:lnSpc>
              <a:buFont typeface="Arial"/>
              <a:buChar char="•"/>
            </a:pPr>
            <a:r>
              <a:rPr lang="en-US" sz="3180" b="1">
                <a:solidFill>
                  <a:srgbClr val="213163"/>
                </a:solidFill>
                <a:latin typeface="Futura Bold"/>
                <a:ea typeface="Futura Bold"/>
                <a:cs typeface="Futura Bold"/>
                <a:sym typeface="Futura Bold"/>
              </a:rPr>
              <a:t>Incorporation of weather and vegetation data to predict fire risk zones proactively.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518</Words>
  <Application>Microsoft Office PowerPoint</Application>
  <PresentationFormat>Custom</PresentationFormat>
  <Paragraphs>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Calibri</vt:lpstr>
      <vt:lpstr>Lovelo</vt:lpstr>
      <vt:lpstr>Georgia Pro</vt:lpstr>
      <vt:lpstr>Futura Bold</vt:lpstr>
      <vt:lpstr>Arial Bold</vt:lpstr>
      <vt:lpstr>Arimo</vt:lpstr>
      <vt:lpstr>Alatsi</vt:lpstr>
      <vt:lpstr>Alike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Week_3_Project_PPT_Template1 (2).pptx</dc:title>
  <cp:lastModifiedBy>Bhulakshmi Battula</cp:lastModifiedBy>
  <cp:revision>7</cp:revision>
  <dcterms:created xsi:type="dcterms:W3CDTF">2006-08-16T00:00:00Z</dcterms:created>
  <dcterms:modified xsi:type="dcterms:W3CDTF">2025-08-01T09:04:31Z</dcterms:modified>
  <dc:identifier>DAGutFCDAE8</dc:identifier>
</cp:coreProperties>
</file>